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rdmmesh — собственная система банка для жизненного цикла бизнес-справочников (Reference Data), архитектурно и визуально согласованная с OpenMetadata. Не MDM. Презентация: обзор для руководства + детали для инженерной команды.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руководства. Ключевая мысль: не дублируем OpenMetadata и не строим MDM. rdmmesh закрывает узкую, но критичную для регулятора задачу — версионируемые согласуемые справочники с воспроизводимостью задним числом.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Чёткая двусторонняя граница снимает 80% споров с заказчиком. Пилот узкий специально: один справочник IFRS9 в проде на MVP.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L1 — для всех. Бежевые блоки = внешние системы. Бирюзовые = rdmmesh. Подчеркнуть два независимых потока с OM: pull-ingestion и push-webhook.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L2 — для команды и инфраструктуры. Главный аргумент для руководства: операционно дёшево — 3 компонента в проде.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Ядро доклада для команды. Modular monolith с compile-time изоляцией. Заменяемость инфраструктуры через порты: Flowable за WorkflowPort, ES за SearchPort, Kafka за OutboundPort — без рефакторинга бизнес-логики.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команды. Подчеркнуть immutability + bitemporal как регуляторный фундамент. DomainRoleDirectory и ApprovalTask — E17, адресная маршрутизация согласования.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Compliance-ядро. Для руководства: 4 глаза + криптоподпись + невозможность обхода. Для команды: state machine за портом, миграция на Flowable безболезненна.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Ключевое архитектурное решение (ADR-005/008). Для руководства: системы не валят друг друга. Для команды: два независимых асинхронных канала, разные модели консистентности.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руководства это про регуляторный риск и аудит. Один слайд-объяснение «зачем две оси времени» на бытовом примере. Технически — 4 timestamp-колонки + GiST-индекс, дёшево на старте.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Связывает все модули в одну историю. Хорош и для руководства (понятно), и для команды (видно, какой модуль за что отвечает).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руководства — про стоимость владения и рекрутинг (тот же стек, что OM). Каждое 'нет' (ES/Kafka/Redis) спрятано за портом → обратимо.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Статус сверен с docs/handoff/E*: для MVP и большей части V1 handoff-документы существуют (E1–E17). E17 адресная маршрутизация и E15/E16 завершены (см. git log). E8/E9/E12 и bulk — следующие. V2 — по SPEC, не начато.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Финальный слайд. Для руководства — двойной message: гибкость (порты) + регуляторная надёжность с первого дня. Дальше —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94960"/>
            <a:ext cx="12191695" cy="91440"/>
          </a:xfrm>
          <a:prstGeom prst="rect">
            <a:avLst/>
          </a:prstGeom>
          <a:solidFill>
            <a:srgbClr val="0CA6A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rdmmesh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9C4E0"/>
                </a:solidFill>
              </a:rPr>
              <a:t>Архитектура системы управления бизнес-справочниками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0C8"/>
                </a:solidFill>
              </a:rPr>
              <a:t>Reference Data Management for Data Mesh  ·  согласована с OpenMetadata 1.12.x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A6A6"/>
                </a:solidFill>
              </a:rPr>
              <a:t>Для команды и руководства</a:t>
            </a:r>
            <a:pPr indent="0" marL="0">
              <a:buNone/>
            </a:pPr>
            <a:r>
              <a:rPr lang="en-US" sz="1300" dirty="0">
                <a:solidFill>
                  <a:srgbClr val="8FA0C8"/>
                </a:solidFill>
              </a:rPr>
              <a:t>   ·   Пилот: Risk / IFRS9 + Security / Access Matrix   · 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A6A6"/>
                </a:solidFill>
              </a:rPr>
              <a:t>КОНТЕКСТ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E"/>
                </a:solidFill>
              </a:rPr>
              <a:t>Зачем отдельная система, а не готовое RDM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155680" cy="0"/>
          </a:xfrm>
          <a:prstGeom prst="line">
            <a:avLst/>
          </a:prstGeom>
          <a:noFill/>
          <a:ln w="9525">
            <a:solidFill>
              <a:srgbClr val="C2C8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63040"/>
            <a:ext cx="5349240" cy="960120"/>
          </a:xfrm>
          <a:prstGeom prst="roundRect">
            <a:avLst>
              <a:gd name="adj" fmla="val 5714"/>
            </a:avLst>
          </a:prstGeom>
          <a:solidFill>
            <a:srgbClr val="F1F2F5"/>
          </a:solidFill>
          <a:ln w="15875">
            <a:solidFill>
              <a:srgbClr val="C2C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63040"/>
            <a:ext cx="5349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Банк внедряет Data Mesh.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Корпоративный каталог метаданных — OpenMetadata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606040"/>
            <a:ext cx="5349240" cy="1280160"/>
          </a:xfrm>
          <a:prstGeom prst="roundRect">
            <a:avLst>
              <a:gd name="adj" fmla="val 4286"/>
            </a:avLst>
          </a:prstGeom>
          <a:solidFill>
            <a:srgbClr val="F1F2F5"/>
          </a:solidFill>
          <a:ln w="15875">
            <a:solidFill>
              <a:srgbClr val="C2C8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606040"/>
            <a:ext cx="5349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каталога недостаточно: бизнес-домены должны сами вести жизненный цикл справочников (версии, согласование, регуляторная воспроизводимость)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4069080"/>
            <a:ext cx="5349240" cy="1143000"/>
          </a:xfrm>
          <a:prstGeom prst="roundRect">
            <a:avLst>
              <a:gd name="adj" fmla="val 4800"/>
            </a:avLst>
          </a:prstGeom>
          <a:solidFill>
            <a:srgbClr val="FBEAEA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069080"/>
            <a:ext cx="5349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Готовые OSS (Pimcore, AtroCore) отвергнуты:</a:t>
            </a:r>
            <a:endParaRPr lang="en-US" sz="1150" dirty="0"/>
          </a:p>
          <a:p>
            <a:pPr algn="ctr"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избыточный PIM-функционал + диссонанс с OpenMetadata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0" y="2377440"/>
            <a:ext cx="5303520" cy="1828800"/>
          </a:xfrm>
          <a:prstGeom prst="roundRect">
            <a:avLst>
              <a:gd name="adj" fmla="val 3000"/>
            </a:avLst>
          </a:prstGeom>
          <a:solidFill>
            <a:srgbClr val="E6F6F6"/>
          </a:solidFill>
          <a:ln w="15875">
            <a:solidFill>
              <a:srgbClr val="0CA6A6"/>
            </a:solidFill>
            <a:prstDash val="solid"/>
          </a:ln>
          <a:effectLst>
            <a:outerShdw sx="100000" sy="100000" kx="0" ky="0" algn="bl" rotWithShape="0" blurRad="50800" dist="25400" dir="5400000">
              <a:srgbClr val="8894AE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2377440"/>
            <a:ext cx="5303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собственная система rdmmesh</a:t>
            </a:r>
            <a:endParaRPr lang="en-US" sz="1400" dirty="0"/>
          </a:p>
          <a:p>
            <a:pPr algn="ctr" indent="0" marL="0">
              <a:lnSpc>
                <a:spcPts val="1700"/>
              </a:lnSpc>
              <a:buNone/>
            </a:pPr>
            <a:endParaRPr lang="en-US" sz="14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Граница ответственности — только RDM,</a:t>
            </a:r>
            <a:endParaRPr lang="en-US" sz="14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MDM. Стек и UX как у OpenMetadata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852160" y="3291840"/>
            <a:ext cx="548640" cy="0"/>
          </a:xfrm>
          <a:prstGeom prst="line">
            <a:avLst/>
          </a:prstGeom>
          <a:noFill/>
          <a:ln w="31750">
            <a:solidFill>
              <a:srgbClr val="0CA6A6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02920" y="55321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8"/>
                </a:solidFill>
              </a:rPr>
              <a:t>RDM ≠ MDM: rdmmesh ведёт справочники. Matching / golden record / провижининг прав — вне scope (это IdM/IGA и отдельный продукт).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A6A6"/>
                </a:solidFill>
              </a:rPr>
              <a:t>SCOPE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E"/>
                </a:solidFill>
              </a:rPr>
              <a:t>Границы системы и пилотные домены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155680" cy="0"/>
          </a:xfrm>
          <a:prstGeom prst="line">
            <a:avLst/>
          </a:prstGeom>
          <a:noFill/>
          <a:ln w="9525">
            <a:solidFill>
              <a:srgbClr val="C2C8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E5A"/>
                </a:solidFill>
              </a:rPr>
              <a:t>В scope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1" marL="457200" indent="-2286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E"/>
                </a:solidFill>
              </a:rPr>
              <a:t>Создание/редактирование справочников бизнес-доменами</a:t>
            </a:r>
            <a:endParaRPr lang="en-US" sz="1200" dirty="0"/>
          </a:p>
          <a:p>
            <a:pPr lvl="1" marL="457200" indent="-2286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E"/>
                </a:solidFill>
              </a:rPr>
              <a:t>Иерархии + композитные ключи (матрицы)</a:t>
            </a:r>
            <a:endParaRPr lang="en-US" sz="1200" dirty="0"/>
          </a:p>
          <a:p>
            <a:pPr lvl="1" marL="457200" indent="-2286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E"/>
                </a:solidFill>
              </a:rPr>
              <a:t>Версионирование (semver, immutable snapshot)</a:t>
            </a:r>
            <a:endParaRPr lang="en-US" sz="1200" dirty="0"/>
          </a:p>
          <a:p>
            <a:pPr lvl="1" marL="457200" indent="-2286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E"/>
                </a:solidFill>
              </a:rPr>
              <a:t>Bitemporal — воспроизводимость на любую дату</a:t>
            </a:r>
            <a:endParaRPr lang="en-US" sz="1200" dirty="0"/>
          </a:p>
          <a:p>
            <a:pPr lvl="1" marL="457200" indent="-2286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E"/>
                </a:solidFill>
              </a:rPr>
              <a:t>Workflow 4-eyes + цифровая подпись + audit</a:t>
            </a:r>
            <a:endParaRPr lang="en-US" sz="1200" dirty="0"/>
          </a:p>
          <a:p>
            <a:pPr lvl="1" marL="457200" indent="-2286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E"/>
                </a:solidFill>
              </a:rPr>
              <a:t>Локализация ru/en, AD-аутентификация через Keycloak</a:t>
            </a:r>
            <a:endParaRPr lang="en-US" sz="1200" dirty="0"/>
          </a:p>
          <a:p>
            <a:pPr lvl="1" marL="457200" indent="-2286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E"/>
                </a:solidFill>
              </a:rPr>
              <a:t>Публикация: REST / bulk export / webhooks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0936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Вне scope (намеренная граница)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1" marL="457200" indent="-2286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E"/>
                </a:solidFill>
              </a:rPr>
              <a:t>Master Data Management (matching, golden record)</a:t>
            </a:r>
            <a:endParaRPr lang="en-US" sz="1200" dirty="0"/>
          </a:p>
          <a:p>
            <a:pPr lvl="1" marL="457200" indent="-2286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E"/>
                </a:solidFill>
              </a:rPr>
              <a:t>Provisioning / enforcement прав доступа</a:t>
            </a:r>
            <a:endParaRPr lang="en-US" sz="1200" dirty="0"/>
          </a:p>
          <a:p>
            <a:pPr lvl="1" marL="457200" indent="-2286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E"/>
                </a:solidFill>
              </a:rPr>
              <a:t>Хранение операционных данных (не DWH)</a:t>
            </a:r>
            <a:endParaRPr lang="en-US" sz="1200" dirty="0"/>
          </a:p>
          <a:p>
            <a:pPr lvl="1" marL="457200" indent="-2286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E"/>
                </a:solidFill>
              </a:rPr>
              <a:t>Замена OM Glossary / Classification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365760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EEF2FB"/>
          </a:solidFill>
          <a:ln w="15875">
            <a:solidFill>
              <a:srgbClr val="3B5B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365760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/ IFRS9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PD·LGD·EAD матрицы, SICR-стадии,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регуляторная воспроизводимость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098280" y="365760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EEF2FB"/>
          </a:solidFill>
          <a:ln w="15875">
            <a:solidFill>
              <a:srgbClr val="3B5B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98280" y="365760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/ Access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Dept→Div→Position,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матрица Position×System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09360" y="3337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E"/>
                </a:solidFill>
              </a:rPr>
              <a:t>Пилотные домены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55321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8"/>
                </a:solidFill>
              </a:rPr>
              <a:t>Объёмы: десятки–тысячи справочников; стандартный PostgreSQL 16 OLTP покрывает горизонт 3–5 лет.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A6A6"/>
                </a:solidFill>
              </a:rPr>
              <a:t>АРХИТЕКТУРА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E"/>
                </a:solidFill>
              </a:rPr>
              <a:t>C4 уровень 1 — системный контекст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155680" cy="0"/>
          </a:xfrm>
          <a:prstGeom prst="line">
            <a:avLst/>
          </a:prstGeom>
          <a:noFill/>
          <a:ln w="9525">
            <a:solidFill>
              <a:srgbClr val="C2C8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54480"/>
            <a:ext cx="1828800" cy="868680"/>
          </a:xfrm>
          <a:prstGeom prst="roundRect">
            <a:avLst>
              <a:gd name="adj" fmla="val 6316"/>
            </a:avLst>
          </a:prstGeom>
          <a:solidFill>
            <a:srgbClr val="FBF6E9"/>
          </a:solidFill>
          <a:ln w="15875">
            <a:solidFill>
              <a:srgbClr val="C9B9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5448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Domain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88920" y="1554480"/>
            <a:ext cx="1828800" cy="868680"/>
          </a:xfrm>
          <a:prstGeom prst="roundRect">
            <a:avLst>
              <a:gd name="adj" fmla="val 6316"/>
            </a:avLst>
          </a:prstGeom>
          <a:solidFill>
            <a:srgbClr val="FBF6E9"/>
          </a:solidFill>
          <a:ln w="15875">
            <a:solidFill>
              <a:srgbClr val="C9B9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88920" y="155448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(OIDC broker)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66360" y="1417320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E6F6F6"/>
          </a:solidFill>
          <a:ln w="15875">
            <a:solidFill>
              <a:srgbClr val="0C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66360" y="14173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rdmmesh-ui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66360" y="224028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0CA6A6"/>
          </a:solidFill>
          <a:ln w="15875">
            <a:solidFill>
              <a:srgbClr val="0CA6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66360" y="224028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rdmmesh-api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(JVM service)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63840" y="1554480"/>
            <a:ext cx="1828800" cy="1463040"/>
          </a:xfrm>
          <a:prstGeom prst="roundRect">
            <a:avLst>
              <a:gd name="adj" fmla="val 3750"/>
            </a:avLst>
          </a:prstGeom>
          <a:solidFill>
            <a:srgbClr val="FBF6E9"/>
          </a:solidFill>
          <a:ln w="15875">
            <a:solidFill>
              <a:srgbClr val="C9B9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0" y="155448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1.12.x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26680" y="3383280"/>
            <a:ext cx="2148840" cy="822960"/>
          </a:xfrm>
          <a:prstGeom prst="roundRect">
            <a:avLst>
              <a:gd name="adj" fmla="val 6667"/>
            </a:avLst>
          </a:prstGeom>
          <a:solidFill>
            <a:srgbClr val="FBF6E9"/>
          </a:solidFill>
          <a:ln w="15875">
            <a:solidFill>
              <a:srgbClr val="C9B9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26680" y="338328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om-rdmmesh-source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(Python, в OM Airflow)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0" y="3429000"/>
            <a:ext cx="2377440" cy="731520"/>
          </a:xfrm>
          <a:prstGeom prst="roundRect">
            <a:avLst>
              <a:gd name="adj" fmla="val 7500"/>
            </a:avLst>
          </a:prstGeom>
          <a:solidFill>
            <a:srgbClr val="E6F6F6"/>
          </a:solidFill>
          <a:ln w="15875">
            <a:solidFill>
              <a:srgbClr val="0CA6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34290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/webhooks/om/ownership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023360" y="4937760"/>
            <a:ext cx="4572000" cy="868680"/>
          </a:xfrm>
          <a:prstGeom prst="roundRect">
            <a:avLst>
              <a:gd name="adj" fmla="val 6316"/>
            </a:avLst>
          </a:prstGeom>
          <a:solidFill>
            <a:srgbClr val="F1F2F5"/>
          </a:solidFill>
          <a:ln w="15875">
            <a:solidFill>
              <a:srgbClr val="C2C8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0" y="493776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Consumer-системы:  Risk-engine · IdM/IGA · BI · dbt · ETL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331720" y="1984248"/>
            <a:ext cx="457200" cy="0"/>
          </a:xfrm>
          <a:prstGeom prst="line">
            <a:avLst/>
          </a:prstGeom>
          <a:noFill/>
          <a:ln w="19050">
            <a:solidFill>
              <a:srgbClr val="5A6478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2194560" y="20116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8"/>
                </a:solidFill>
              </a:rPr>
              <a:t>LDAP/Krb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 flipV="1">
            <a:off x="4617720" y="1737360"/>
            <a:ext cx="548640" cy="182880"/>
          </a:xfrm>
          <a:prstGeom prst="line">
            <a:avLst/>
          </a:prstGeom>
          <a:noFill/>
          <a:ln w="19050">
            <a:solidFill>
              <a:srgbClr val="3B5BDB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617720" y="2103120"/>
            <a:ext cx="548640" cy="457200"/>
          </a:xfrm>
          <a:prstGeom prst="line">
            <a:avLst/>
          </a:prstGeom>
          <a:noFill/>
          <a:ln w="19050">
            <a:solidFill>
              <a:srgbClr val="3B5BDB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4572000" y="1051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8"/>
                </a:solidFill>
              </a:rPr>
              <a:t>OIDC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703320" y="2423160"/>
            <a:ext cx="0" cy="2148840"/>
          </a:xfrm>
          <a:prstGeom prst="line">
            <a:avLst/>
          </a:prstGeom>
          <a:noFill/>
          <a:ln w="19050">
            <a:solidFill>
              <a:srgbClr val="3B5BDB"/>
            </a:solidFill>
            <a:prstDash val="dash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778240" y="3017520"/>
            <a:ext cx="0" cy="1554480"/>
          </a:xfrm>
          <a:prstGeom prst="line">
            <a:avLst/>
          </a:prstGeom>
          <a:noFill/>
          <a:ln w="19050">
            <a:solidFill>
              <a:srgbClr val="5A6478"/>
            </a:solidFill>
            <a:prstDash val="dash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778240" y="3017520"/>
            <a:ext cx="22860" cy="365760"/>
          </a:xfrm>
          <a:prstGeom prst="line">
            <a:avLst/>
          </a:prstGeom>
          <a:noFill/>
          <a:ln w="19050">
            <a:solidFill>
              <a:srgbClr val="5A6478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 flipH="1" flipV="1">
            <a:off x="7269480" y="2743200"/>
            <a:ext cx="457200" cy="1051560"/>
          </a:xfrm>
          <a:prstGeom prst="line">
            <a:avLst/>
          </a:prstGeom>
          <a:noFill/>
          <a:ln w="19050">
            <a:solidFill>
              <a:srgbClr val="5A6478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7315200" y="27889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8"/>
                </a:solidFill>
              </a:rPr>
              <a:t>REST pull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 flipH="1">
            <a:off x="7406640" y="2834640"/>
            <a:ext cx="457200" cy="777240"/>
          </a:xfrm>
          <a:prstGeom prst="line">
            <a:avLst/>
          </a:prstGeom>
          <a:noFill/>
          <a:ln w="25400">
            <a:solidFill>
              <a:srgbClr val="0CA6A6"/>
            </a:solidFill>
            <a:prstDash val="solid"/>
            <a:headEnd type="none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7040880" y="30632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8"/>
                </a:solidFill>
              </a:rPr>
              <a:t>Event webhook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 flipV="1">
            <a:off x="6217920" y="2971800"/>
            <a:ext cx="0" cy="1188720"/>
          </a:xfrm>
          <a:prstGeom prst="line">
            <a:avLst/>
          </a:prstGeom>
          <a:noFill/>
          <a:ln w="19050">
            <a:solidFill>
              <a:srgbClr val="0CA6A6"/>
            </a:solidFill>
            <a:prstDash val="solid"/>
            <a:headEnd type="triangl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217920" y="2971800"/>
            <a:ext cx="91440" cy="1965960"/>
          </a:xfrm>
          <a:prstGeom prst="line">
            <a:avLst/>
          </a:prstGeom>
          <a:noFill/>
          <a:ln w="19050">
            <a:solidFill>
              <a:srgbClr val="3B5BDB"/>
            </a:solidFill>
            <a:prstDash val="solid"/>
            <a:headEnd type="triangle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5486400" y="42976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8"/>
                </a:solidFill>
              </a:rPr>
              <a:t>REST + Webhooks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02920" y="60350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8"/>
                </a:solidFill>
              </a:rPr>
              <a:t>Слабая связанность: RDM не вызывает OM в синхронных бизнес-процессах. Регистрация в OM — pull (ingestion). Ownership — async webhook.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A6A6"/>
                </a:solidFill>
              </a:rPr>
              <a:t>АРХИТЕКТУРА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E"/>
                </a:solidFill>
              </a:rPr>
              <a:t>C4 уровень 2 — контейнеры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155680" cy="0"/>
          </a:xfrm>
          <a:prstGeom prst="line">
            <a:avLst/>
          </a:prstGeom>
          <a:noFill/>
          <a:ln w="9525">
            <a:solidFill>
              <a:srgbClr val="C2C8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17320"/>
            <a:ext cx="7772400" cy="2743200"/>
          </a:xfrm>
          <a:prstGeom prst="roundRect">
            <a:avLst>
              <a:gd name="adj" fmla="val 1333"/>
            </a:avLst>
          </a:prstGeom>
          <a:solidFill>
            <a:srgbClr val="F7F9FF"/>
          </a:solidFill>
          <a:ln w="19050">
            <a:solidFill>
              <a:srgbClr val="3B5B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08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E"/>
                </a:solidFill>
              </a:rPr>
              <a:t>rdmmesh-service  (одна JVM, один деплой)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920240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EEF2FB"/>
          </a:solidFill>
          <a:ln w="15875">
            <a:solidFill>
              <a:srgbClr val="3B5B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9202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12848" y="1920240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EEF2FB"/>
          </a:solidFill>
          <a:ln w="15875">
            <a:solidFill>
              <a:srgbClr val="3B5B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12848" y="19202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94176" y="1920240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EEF2FB"/>
          </a:solidFill>
          <a:ln w="15875">
            <a:solidFill>
              <a:srgbClr val="3B5B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94176" y="19202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175504" y="1920240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EEF2FB"/>
          </a:solidFill>
          <a:ln w="15875">
            <a:solidFill>
              <a:srgbClr val="3B5B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75504" y="19202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656832" y="1920240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EEF2FB"/>
          </a:solidFill>
          <a:ln w="15875">
            <a:solidFill>
              <a:srgbClr val="3B5B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56832" y="19202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1520" y="2788920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E6F6F6"/>
          </a:solidFill>
          <a:ln w="15875">
            <a:solidFill>
              <a:srgbClr val="0CA6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7889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12848" y="2788920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E6F6F6"/>
          </a:solidFill>
          <a:ln w="15875">
            <a:solidFill>
              <a:srgbClr val="0CA6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12848" y="27889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94176" y="2788920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E6F6F6"/>
          </a:solidFill>
          <a:ln w="15875">
            <a:solidFill>
              <a:srgbClr val="0CA6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94176" y="27889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175504" y="2788920"/>
            <a:ext cx="2852928" cy="640080"/>
          </a:xfrm>
          <a:prstGeom prst="roundRect">
            <a:avLst>
              <a:gd name="adj" fmla="val 8571"/>
            </a:avLst>
          </a:prstGeom>
          <a:solidFill>
            <a:srgbClr val="F1F2F5"/>
          </a:solidFill>
          <a:ln w="15875">
            <a:solidFill>
              <a:srgbClr val="C2C8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75504" y="2788920"/>
            <a:ext cx="28529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rdmmesh-api  (общие порты / DTO)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" y="3611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8"/>
                </a:solidFill>
              </a:rPr>
              <a:t>9 Maven-модулей · изоляция через ArchUnit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144000" y="1554480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E6F6F6"/>
          </a:solidFill>
          <a:ln w="15875">
            <a:solidFill>
              <a:srgbClr val="0CA6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0" y="15544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rdmmesh-ui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1520" y="4617720"/>
            <a:ext cx="64008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5875">
            <a:solidFill>
              <a:srgbClr val="1B2A4E"/>
            </a:solidFill>
            <a:prstDash val="solid"/>
          </a:ln>
          <a:effectLst>
            <a:outerShdw sx="100000" sy="100000" kx="0" ky="0" algn="bl" rotWithShape="0" blurRad="50800" dist="25400" dir="5400000">
              <a:srgbClr val="8894AE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31520" y="4617720"/>
            <a:ext cx="6400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 —  7 schemas: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· authoring · workflow · publishing · identity · ownership · audit (INSERT ONLY)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680960" y="4617720"/>
            <a:ext cx="3840480" cy="1417320"/>
          </a:xfrm>
          <a:prstGeom prst="roundRect">
            <a:avLst>
              <a:gd name="adj" fmla="val 3871"/>
            </a:avLst>
          </a:prstGeom>
          <a:solidFill>
            <a:srgbClr val="F1F2F5"/>
          </a:solidFill>
          <a:ln w="15875">
            <a:solidFill>
              <a:srgbClr val="C2C8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80960" y="4617720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delivery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(out-of-process worker,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+ backoff, идемпотентность)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 flipH="1">
            <a:off x="8275320" y="1920240"/>
            <a:ext cx="868680" cy="365760"/>
          </a:xfrm>
          <a:prstGeom prst="line">
            <a:avLst/>
          </a:prstGeom>
          <a:noFill/>
          <a:ln w="19050">
            <a:solidFill>
              <a:srgbClr val="0CA6A6"/>
            </a:solidFill>
            <a:prstDash val="solid"/>
            <a:headEnd type="triangle"/>
            <a:tailEnd type="triangle"/>
          </a:ln>
        </p:spPr>
      </p:sp>
      <p:sp>
        <p:nvSpPr>
          <p:cNvPr id="34" name="Shape 32"/>
          <p:cNvSpPr/>
          <p:nvPr/>
        </p:nvSpPr>
        <p:spPr>
          <a:xfrm flipH="1">
            <a:off x="3931920" y="4160520"/>
            <a:ext cx="457200" cy="457200"/>
          </a:xfrm>
          <a:prstGeom prst="line">
            <a:avLst/>
          </a:prstGeom>
          <a:noFill/>
          <a:ln w="25400">
            <a:solidFill>
              <a:srgbClr val="1B2A4E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315200" y="4160520"/>
            <a:ext cx="1371600" cy="457200"/>
          </a:xfrm>
          <a:prstGeom prst="line">
            <a:avLst/>
          </a:prstGeom>
          <a:noFill/>
          <a:ln w="19050">
            <a:solidFill>
              <a:srgbClr val="5A6478"/>
            </a:solidFill>
            <a:prstDash val="solid"/>
            <a:headEnd type="none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502920" y="617220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CA6A6"/>
                </a:solidFill>
              </a:rPr>
              <a:t>Внешние зависимости в prod — всего 3: PostgreSQL · Keycloak · JVM-сервис.  ES / Kafka / Redis / Airflow — не требуются.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A6A6"/>
                </a:solidFill>
              </a:rPr>
              <a:t>АРХИТЕКТУРА · L3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E"/>
                </a:solidFill>
              </a:rPr>
              <a:t>Восемь bounded contexts + Ports &amp; Adapters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155680" cy="0"/>
          </a:xfrm>
          <a:prstGeom prst="line">
            <a:avLst/>
          </a:prstGeom>
          <a:noFill/>
          <a:ln w="9525">
            <a:solidFill>
              <a:srgbClr val="C2C8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09160" y="2788920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1B2A4E"/>
          </a:solidFill>
          <a:ln w="15875">
            <a:solidFill>
              <a:srgbClr val="1B2A4E"/>
            </a:solidFill>
            <a:prstDash val="solid"/>
          </a:ln>
          <a:effectLst>
            <a:outerShdw sx="100000" sy="100000" kx="0" ky="0" algn="bl" rotWithShape="0" blurRad="50800" dist="25400" dir="5400000">
              <a:srgbClr val="8894AE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09160" y="278892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rdmmesh-api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порты · DTO · события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463040"/>
            <a:ext cx="1874520" cy="868680"/>
          </a:xfrm>
          <a:prstGeom prst="roundRect">
            <a:avLst>
              <a:gd name="adj" fmla="val 6316"/>
            </a:avLst>
          </a:prstGeom>
          <a:solidFill>
            <a:srgbClr val="EEF2FB"/>
          </a:solidFill>
          <a:ln w="15875">
            <a:solidFill>
              <a:srgbClr val="3B5B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88920" y="1463040"/>
            <a:ext cx="1874520" cy="868680"/>
          </a:xfrm>
          <a:prstGeom prst="roundRect">
            <a:avLst>
              <a:gd name="adj" fmla="val 6316"/>
            </a:avLst>
          </a:prstGeom>
          <a:solidFill>
            <a:srgbClr val="EEF2FB"/>
          </a:solidFill>
          <a:ln w="15875">
            <a:solidFill>
              <a:srgbClr val="3B5B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1463040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37760" y="1463040"/>
            <a:ext cx="1874520" cy="868680"/>
          </a:xfrm>
          <a:prstGeom prst="roundRect">
            <a:avLst>
              <a:gd name="adj" fmla="val 6316"/>
            </a:avLst>
          </a:prstGeom>
          <a:solidFill>
            <a:srgbClr val="EEF2FB"/>
          </a:solidFill>
          <a:ln w="15875">
            <a:solidFill>
              <a:srgbClr val="3B5B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463040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86600" y="1463040"/>
            <a:ext cx="1874520" cy="868680"/>
          </a:xfrm>
          <a:prstGeom prst="roundRect">
            <a:avLst>
              <a:gd name="adj" fmla="val 6316"/>
            </a:avLst>
          </a:prstGeom>
          <a:solidFill>
            <a:srgbClr val="EEF2FB"/>
          </a:solidFill>
          <a:ln w="15875">
            <a:solidFill>
              <a:srgbClr val="3B5B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86600" y="1463040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235440" y="1463040"/>
            <a:ext cx="1874520" cy="868680"/>
          </a:xfrm>
          <a:prstGeom prst="roundRect">
            <a:avLst>
              <a:gd name="adj" fmla="val 6316"/>
            </a:avLst>
          </a:prstGeom>
          <a:solidFill>
            <a:srgbClr val="EEF2FB"/>
          </a:solidFill>
          <a:ln w="15875">
            <a:solidFill>
              <a:srgbClr val="3B5B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0" y="1463040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4846320"/>
            <a:ext cx="1874520" cy="868680"/>
          </a:xfrm>
          <a:prstGeom prst="roundRect">
            <a:avLst>
              <a:gd name="adj" fmla="val 6316"/>
            </a:avLst>
          </a:prstGeom>
          <a:solidFill>
            <a:srgbClr val="E6F6F6"/>
          </a:solidFill>
          <a:ln w="15875">
            <a:solidFill>
              <a:srgbClr val="0CA6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846320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88920" y="4846320"/>
            <a:ext cx="1874520" cy="868680"/>
          </a:xfrm>
          <a:prstGeom prst="roundRect">
            <a:avLst>
              <a:gd name="adj" fmla="val 6316"/>
            </a:avLst>
          </a:prstGeom>
          <a:solidFill>
            <a:srgbClr val="E6F6F6"/>
          </a:solidFill>
          <a:ln w="15875">
            <a:solidFill>
              <a:srgbClr val="0CA6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88920" y="4846320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086600" y="4846320"/>
            <a:ext cx="1874520" cy="868680"/>
          </a:xfrm>
          <a:prstGeom prst="roundRect">
            <a:avLst>
              <a:gd name="adj" fmla="val 6316"/>
            </a:avLst>
          </a:prstGeom>
          <a:solidFill>
            <a:srgbClr val="E6F6F6"/>
          </a:solidFill>
          <a:ln w="15875">
            <a:solidFill>
              <a:srgbClr val="0CA6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86600" y="4846320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(INSERT ONLY)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235440" y="4846320"/>
            <a:ext cx="1874520" cy="868680"/>
          </a:xfrm>
          <a:prstGeom prst="roundRect">
            <a:avLst>
              <a:gd name="adj" fmla="val 6316"/>
            </a:avLst>
          </a:prstGeom>
          <a:solidFill>
            <a:srgbClr val="F1F2F5"/>
          </a:solidFill>
          <a:ln w="15875">
            <a:solidFill>
              <a:srgbClr val="C2C8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35440" y="4846320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(Dropwizard)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577340" y="2331720"/>
            <a:ext cx="4503420" cy="457200"/>
          </a:xfrm>
          <a:prstGeom prst="line">
            <a:avLst/>
          </a:prstGeom>
          <a:noFill/>
          <a:ln w="12700">
            <a:solidFill>
              <a:srgbClr val="C2C8D4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3726180" y="2331720"/>
            <a:ext cx="2354580" cy="457200"/>
          </a:xfrm>
          <a:prstGeom prst="line">
            <a:avLst/>
          </a:prstGeom>
          <a:noFill/>
          <a:ln w="12700">
            <a:solidFill>
              <a:srgbClr val="C2C8D4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5875020" y="2331720"/>
            <a:ext cx="205740" cy="457200"/>
          </a:xfrm>
          <a:prstGeom prst="line">
            <a:avLst/>
          </a:prstGeom>
          <a:noFill/>
          <a:ln w="12700">
            <a:solidFill>
              <a:srgbClr val="C2C8D4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 flipH="1">
            <a:off x="6080760" y="2331720"/>
            <a:ext cx="1943100" cy="457200"/>
          </a:xfrm>
          <a:prstGeom prst="line">
            <a:avLst/>
          </a:prstGeom>
          <a:noFill/>
          <a:ln w="12700">
            <a:solidFill>
              <a:srgbClr val="C2C8D4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 flipH="1">
            <a:off x="6080760" y="2331720"/>
            <a:ext cx="4091940" cy="457200"/>
          </a:xfrm>
          <a:prstGeom prst="line">
            <a:avLst/>
          </a:prstGeom>
          <a:noFill/>
          <a:ln w="12700">
            <a:solidFill>
              <a:srgbClr val="C2C8D4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 flipV="1">
            <a:off x="1577340" y="3749040"/>
            <a:ext cx="4503420" cy="1097280"/>
          </a:xfrm>
          <a:prstGeom prst="line">
            <a:avLst/>
          </a:prstGeom>
          <a:noFill/>
          <a:ln w="12700">
            <a:solidFill>
              <a:srgbClr val="C2C8D4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 flipV="1">
            <a:off x="3726180" y="3749040"/>
            <a:ext cx="2354580" cy="1097280"/>
          </a:xfrm>
          <a:prstGeom prst="line">
            <a:avLst/>
          </a:prstGeom>
          <a:noFill/>
          <a:ln w="12700">
            <a:solidFill>
              <a:srgbClr val="C2C8D4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 flipH="1" flipV="1">
            <a:off x="6080760" y="3749040"/>
            <a:ext cx="1943100" cy="1097280"/>
          </a:xfrm>
          <a:prstGeom prst="line">
            <a:avLst/>
          </a:prstGeom>
          <a:noFill/>
          <a:ln w="12700">
            <a:solidFill>
              <a:srgbClr val="C2C8D4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 flipH="1" flipV="1">
            <a:off x="6080760" y="3749040"/>
            <a:ext cx="4091940" cy="1097280"/>
          </a:xfrm>
          <a:prstGeom prst="line">
            <a:avLst/>
          </a:prstGeom>
          <a:noFill/>
          <a:ln w="12700">
            <a:solidFill>
              <a:srgbClr val="C2C8D4"/>
            </a:solidFill>
            <a:prstDash val="solid"/>
            <a:headEnd type="none"/>
            <a:tailEnd type="none"/>
          </a:ln>
        </p:spPr>
      </p:sp>
      <p:sp>
        <p:nvSpPr>
          <p:cNvPr id="35" name="Text 33"/>
          <p:cNvSpPr/>
          <p:nvPr/>
        </p:nvSpPr>
        <p:spPr>
          <a:xfrm>
            <a:off x="4572000" y="38404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8"/>
                </a:solidFill>
              </a:rPr>
              <a:t>Порты: SearchPort · WorkflowPort · OutboundPort · IdentityPort · OwnershipPort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02920" y="59893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B2A4E"/>
                </a:solidFill>
              </a:rPr>
              <a:t>Правила, проверяемые ArchUnit:  </a:t>
            </a:r>
            <a:pPr indent="0" marL="0">
              <a:buNone/>
            </a:pPr>
            <a:r>
              <a:rPr lang="en-US" sz="1150" i="1" dirty="0">
                <a:solidFill>
                  <a:srgbClr val="5A6478"/>
                </a:solidFill>
              </a:rPr>
              <a:t>модули общаются только через rdmmesh-api · audit ничего не импортирует · distribution не пишет в БД · write в schema только из catalog/authoring.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A6A6"/>
                </a:solidFill>
              </a:rPr>
              <a:t>ДАННЫЕ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E"/>
                </a:solidFill>
              </a:rPr>
              <a:t>Доменная модель — ядро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155680" cy="0"/>
          </a:xfrm>
          <a:prstGeom prst="line">
            <a:avLst/>
          </a:prstGeom>
          <a:noFill/>
          <a:ln w="9525">
            <a:solidFill>
              <a:srgbClr val="C2C8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54480"/>
            <a:ext cx="2194560" cy="777240"/>
          </a:xfrm>
          <a:prstGeom prst="roundRect">
            <a:avLst>
              <a:gd name="adj" fmla="val 7059"/>
            </a:avLst>
          </a:prstGeom>
          <a:solidFill>
            <a:srgbClr val="FBF6E9"/>
          </a:solidFill>
          <a:ln w="15875">
            <a:solidFill>
              <a:srgbClr val="C9B9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5448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(mirror из OM)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08960" y="1554480"/>
            <a:ext cx="2468880" cy="777240"/>
          </a:xfrm>
          <a:prstGeom prst="roundRect">
            <a:avLst>
              <a:gd name="adj" fmla="val 7059"/>
            </a:avLst>
          </a:prstGeom>
          <a:solidFill>
            <a:srgbClr val="EEF2FB"/>
          </a:solidFill>
          <a:ln w="15875">
            <a:solidFill>
              <a:srgbClr val="3B5B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15544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CodeSet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CodeSetSchema · KeySpec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89320" y="1554480"/>
            <a:ext cx="2651760" cy="777240"/>
          </a:xfrm>
          <a:prstGeom prst="roundRect">
            <a:avLst>
              <a:gd name="adj" fmla="val 7059"/>
            </a:avLst>
          </a:prstGeom>
          <a:solidFill>
            <a:srgbClr val="EEF2FB"/>
          </a:solidFill>
          <a:ln w="15875">
            <a:solidFill>
              <a:srgbClr val="3B5B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89320" y="155448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CodeSetVersion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semver · status · bitemporal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052560" y="1554480"/>
            <a:ext cx="2651760" cy="777240"/>
          </a:xfrm>
          <a:prstGeom prst="roundRect">
            <a:avLst>
              <a:gd name="adj" fmla="val 7059"/>
            </a:avLst>
          </a:prstGeom>
          <a:solidFill>
            <a:srgbClr val="EEF2FB"/>
          </a:solidFill>
          <a:ln w="15875">
            <a:solidFill>
              <a:srgbClr val="3B5B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52560" y="155448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CodeItem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key_parts · label · attrs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97480" y="1943100"/>
            <a:ext cx="411480" cy="0"/>
          </a:xfrm>
          <a:prstGeom prst="line">
            <a:avLst/>
          </a:prstGeom>
          <a:noFill/>
          <a:ln w="19050">
            <a:solidFill>
              <a:srgbClr val="5A6478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577840" y="1943100"/>
            <a:ext cx="411480" cy="0"/>
          </a:xfrm>
          <a:prstGeom prst="line">
            <a:avLst/>
          </a:prstGeom>
          <a:noFill/>
          <a:ln w="19050">
            <a:solidFill>
              <a:srgbClr val="5A6478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641080" y="1943100"/>
            <a:ext cx="411480" cy="0"/>
          </a:xfrm>
          <a:prstGeom prst="line">
            <a:avLst/>
          </a:prstGeom>
          <a:noFill/>
          <a:ln w="19050">
            <a:solidFill>
              <a:srgbClr val="5A6478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2606040" y="1234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8"/>
                </a:solidFill>
              </a:rPr>
              <a:t>1 → 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40680" y="1234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8"/>
                </a:solidFill>
              </a:rPr>
              <a:t>1 → 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503920" y="1234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8"/>
                </a:solidFill>
              </a:rPr>
              <a:t>1 → 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" y="2743200"/>
            <a:ext cx="67665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1" marL="457200" indent="-2286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E"/>
                </a:solidFill>
              </a:rPr>
              <a:t>CodeSetVersion: DRAFT → … → PUBLISHED → DEPRECATED · content_hash + HMAC-подпись approver'а</a:t>
            </a:r>
            <a:endParaRPr lang="en-US" sz="1200" dirty="0"/>
          </a:p>
          <a:p>
            <a:pPr lvl="1" marL="457200" indent="-2286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E"/>
                </a:solidFill>
              </a:rPr>
              <a:t>CodeItem: composite key (JSONB массив) · label ru/en · attributes валидируются по JSON Schema</a:t>
            </a:r>
            <a:endParaRPr lang="en-US" sz="1200" dirty="0"/>
          </a:p>
          <a:p>
            <a:pPr lvl="1" marL="457200" indent="-2286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E"/>
                </a:solidFill>
              </a:rPr>
              <a:t>Иерархии: adjacency list для правки + closure table для subtree-запросов</a:t>
            </a:r>
            <a:endParaRPr lang="en-US" sz="1200" dirty="0"/>
          </a:p>
          <a:p>
            <a:pPr lvl="1" marL="457200" indent="-2286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E"/>
                </a:solidFill>
              </a:rPr>
              <a:t>Immutable snapshot после publish — UPDATE/DELETE запрещены, изменение = новая версия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498080" y="2788920"/>
            <a:ext cx="4206240" cy="960120"/>
          </a:xfrm>
          <a:prstGeom prst="roundRect">
            <a:avLst>
              <a:gd name="adj" fmla="val 5714"/>
            </a:avLst>
          </a:prstGeom>
          <a:solidFill>
            <a:srgbClr val="E6F6F6"/>
          </a:solidFill>
          <a:ln w="15875">
            <a:solidFill>
              <a:srgbClr val="0CA6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0" y="278892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DomainRoleDirectory  (E17)</a:t>
            </a:r>
            <a:endParaRPr lang="en-US" sz="105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домен → роль → учётка · TRUNCATE+INSERT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498080" y="3977640"/>
            <a:ext cx="4206240" cy="868680"/>
          </a:xfrm>
          <a:prstGeom prst="roundRect">
            <a:avLst>
              <a:gd name="adj" fmla="val 6316"/>
            </a:avLst>
          </a:prstGeom>
          <a:solidFill>
            <a:srgbClr val="E6F6F6"/>
          </a:solidFill>
          <a:ln w="15875">
            <a:solidFill>
              <a:srgbClr val="0CA6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0" y="397764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ApprovalTask</a:t>
            </a:r>
            <a:endParaRPr lang="en-US" sz="105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адресная: candidate_users=[assignee]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8"/>
                </a:solidFill>
              </a:rPr>
              <a:t>Bitemporal с первого дня: effective_* (бизнес-время) + system_* (системное) — обязательно для IFRS9.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A6A6"/>
                </a:solidFill>
              </a:rPr>
              <a:t>ПРОЦЕСС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E"/>
                </a:solidFill>
              </a:rPr>
              <a:t>Жизненный цикл справочника — workflow 4-eyes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155680" cy="0"/>
          </a:xfrm>
          <a:prstGeom prst="line">
            <a:avLst/>
          </a:prstGeom>
          <a:noFill/>
          <a:ln w="9525">
            <a:solidFill>
              <a:srgbClr val="C2C8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194560"/>
            <a:ext cx="1965960" cy="731520"/>
          </a:xfrm>
          <a:prstGeom prst="roundRect">
            <a:avLst>
              <a:gd name="adj" fmla="val 7500"/>
            </a:avLst>
          </a:prstGeom>
          <a:solidFill>
            <a:srgbClr val="EEF2FB"/>
          </a:solidFill>
          <a:ln w="15875">
            <a:solidFill>
              <a:srgbClr val="3B5B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19456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80360" y="2194560"/>
            <a:ext cx="1965960" cy="731520"/>
          </a:xfrm>
          <a:prstGeom prst="roundRect">
            <a:avLst>
              <a:gd name="adj" fmla="val 7500"/>
            </a:avLst>
          </a:prstGeom>
          <a:solidFill>
            <a:srgbClr val="EEF2FB"/>
          </a:solidFill>
          <a:ln w="15875">
            <a:solidFill>
              <a:srgbClr val="3B5B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0360" y="219456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IN_REVIEW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57800" y="2194560"/>
            <a:ext cx="1965960" cy="731520"/>
          </a:xfrm>
          <a:prstGeom prst="roundRect">
            <a:avLst>
              <a:gd name="adj" fmla="val 7500"/>
            </a:avLst>
          </a:prstGeom>
          <a:solidFill>
            <a:srgbClr val="EEF2FB"/>
          </a:solidFill>
          <a:ln w="15875">
            <a:solidFill>
              <a:srgbClr val="3B5B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57800" y="219456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STEWARD_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635240" y="2194560"/>
            <a:ext cx="1965960" cy="731520"/>
          </a:xfrm>
          <a:prstGeom prst="roundRect">
            <a:avLst>
              <a:gd name="adj" fmla="val 7500"/>
            </a:avLst>
          </a:prstGeom>
          <a:solidFill>
            <a:srgbClr val="EEF2FB"/>
          </a:solidFill>
          <a:ln w="15875">
            <a:solidFill>
              <a:srgbClr val="3B5B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35240" y="219456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OWNER_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738360" y="2194560"/>
            <a:ext cx="1965960" cy="731520"/>
          </a:xfrm>
          <a:prstGeom prst="roundRect">
            <a:avLst>
              <a:gd name="adj" fmla="val 7500"/>
            </a:avLst>
          </a:prstGeom>
          <a:solidFill>
            <a:srgbClr val="E6F6F6"/>
          </a:solidFill>
          <a:ln w="15875">
            <a:solidFill>
              <a:srgbClr val="0CA6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38360" y="219456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738360" y="4023360"/>
            <a:ext cx="1965960" cy="731520"/>
          </a:xfrm>
          <a:prstGeom prst="roundRect">
            <a:avLst>
              <a:gd name="adj" fmla="val 7500"/>
            </a:avLst>
          </a:prstGeom>
          <a:solidFill>
            <a:srgbClr val="EEF2FB"/>
          </a:solidFill>
          <a:ln w="15875">
            <a:solidFill>
              <a:srgbClr val="3B5B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38360" y="402336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DEPRECATED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68880" y="2560320"/>
            <a:ext cx="411480" cy="0"/>
          </a:xfrm>
          <a:prstGeom prst="line">
            <a:avLst/>
          </a:prstGeom>
          <a:noFill/>
          <a:ln w="25400">
            <a:solidFill>
              <a:srgbClr val="1E8E5A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2468880" y="1828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8"/>
                </a:solidFill>
              </a:rPr>
              <a:t>submit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46320" y="2560320"/>
            <a:ext cx="411480" cy="0"/>
          </a:xfrm>
          <a:prstGeom prst="line">
            <a:avLst/>
          </a:prstGeom>
          <a:noFill/>
          <a:ln w="25400">
            <a:solidFill>
              <a:srgbClr val="1E8E5A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4846320" y="1828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8"/>
                </a:solidFill>
              </a:rPr>
              <a:t>steward ✓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223760" y="2560320"/>
            <a:ext cx="411480" cy="0"/>
          </a:xfrm>
          <a:prstGeom prst="line">
            <a:avLst/>
          </a:prstGeom>
          <a:noFill/>
          <a:ln w="25400">
            <a:solidFill>
              <a:srgbClr val="1E8E5A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7223760" y="1828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8"/>
                </a:solidFill>
              </a:rPr>
              <a:t>owner ✓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601200" y="2560320"/>
            <a:ext cx="137160" cy="0"/>
          </a:xfrm>
          <a:prstGeom prst="line">
            <a:avLst/>
          </a:prstGeom>
          <a:noFill/>
          <a:ln w="25400">
            <a:solidFill>
              <a:srgbClr val="1E8E5A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9646920" y="18288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8"/>
                </a:solidFill>
              </a:rPr>
              <a:t>publish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721340" y="2926080"/>
            <a:ext cx="0" cy="1097280"/>
          </a:xfrm>
          <a:prstGeom prst="line">
            <a:avLst/>
          </a:prstGeom>
          <a:noFill/>
          <a:ln w="19050">
            <a:solidFill>
              <a:srgbClr val="5A6478"/>
            </a:solidFill>
            <a:prstDash val="dash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10058400" y="3154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8"/>
                </a:solidFill>
              </a:rPr>
              <a:t>след. PUBLISHED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 flipH="1">
            <a:off x="1851660" y="2926080"/>
            <a:ext cx="201168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dash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502920" y="3246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0392B"/>
                </a:solidFill>
              </a:rPr>
              <a:t>steward reject → DRAFT (обязательный комментарий)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02920" y="4114800"/>
            <a:ext cx="87782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1" marL="457200" indent="-2286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E"/>
                </a:solidFill>
              </a:rPr>
              <a:t>No-bypass: даже RDM_ADMIN не может пропустить workflow (нет permission workflow.skip)</a:t>
            </a:r>
            <a:endParaRPr lang="en-US" sz="1200" dirty="0"/>
          </a:p>
          <a:p>
            <a:pPr lvl="1" marL="457200" indent="-2286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E"/>
                </a:solidFill>
              </a:rPr>
              <a:t>Self-approval prevention: created_by ≠ reviewed_by ≠ approved_by — на уровне state machine</a:t>
            </a:r>
            <a:endParaRPr lang="en-US" sz="1200" dirty="0"/>
          </a:p>
          <a:p>
            <a:pPr lvl="1" marL="457200" indent="-2286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E"/>
                </a:solidFill>
              </a:rPr>
              <a:t>BR-21 (E17): submit адресуется конкретному согласующему — Author выбирает домен → роль → учётку; задача появляется только у него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" y="612648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</a:rPr>
              <a:t>MVP: enum state machine (~200 строк) за WorkflowPort. Custom BPMN per domain — V2 (Flowable, без рефакторинга бизнес-логики).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A6A6"/>
                </a:solidFill>
              </a:rPr>
              <a:t>ИНТЕГРАЦИЯ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E"/>
                </a:solidFill>
              </a:rPr>
              <a:t>Связь с OpenMetadata — слабая связанность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155680" cy="0"/>
          </a:xfrm>
          <a:prstGeom prst="line">
            <a:avLst/>
          </a:prstGeom>
          <a:noFill/>
          <a:ln w="9525">
            <a:solidFill>
              <a:srgbClr val="C2C8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377440"/>
            <a:ext cx="2743200" cy="1463040"/>
          </a:xfrm>
          <a:prstGeom prst="roundRect">
            <a:avLst>
              <a:gd name="adj" fmla="val 3750"/>
            </a:avLst>
          </a:prstGeom>
          <a:solidFill>
            <a:srgbClr val="0CA6A6"/>
          </a:solidFill>
          <a:ln w="15875">
            <a:solidFill>
              <a:srgbClr val="0CA6A6"/>
            </a:solidFill>
            <a:prstDash val="solid"/>
          </a:ln>
          <a:effectLst>
            <a:outerShdw sx="100000" sy="100000" kx="0" ky="0" algn="bl" rotWithShape="0" blurRad="50800" dist="25400" dir="5400000">
              <a:srgbClr val="8894AE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237744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rdmmesh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961120" y="2377440"/>
            <a:ext cx="2743200" cy="1463040"/>
          </a:xfrm>
          <a:prstGeom prst="roundRect">
            <a:avLst>
              <a:gd name="adj" fmla="val 3750"/>
            </a:avLst>
          </a:prstGeom>
          <a:solidFill>
            <a:srgbClr val="FBF6E9"/>
          </a:solidFill>
          <a:ln w="15875">
            <a:solidFill>
              <a:srgbClr val="C9B97A"/>
            </a:solidFill>
            <a:prstDash val="solid"/>
          </a:ln>
          <a:effectLst>
            <a:outerShdw sx="100000" sy="100000" kx="0" ky="0" algn="bl" rotWithShape="0" blurRad="50800" dist="25400" dir="5400000">
              <a:srgbClr val="8894AE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961120" y="237744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OpenMetadata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(мастер: домены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ownership)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0" y="1463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E"/>
                </a:solidFill>
              </a:rPr>
              <a:t>Поток RDM → OM   (только pull, через ingestion)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0" y="1828800"/>
            <a:ext cx="4846320" cy="731520"/>
          </a:xfrm>
          <a:prstGeom prst="roundRect">
            <a:avLst>
              <a:gd name="adj" fmla="val 7500"/>
            </a:avLst>
          </a:prstGeom>
          <a:solidFill>
            <a:srgbClr val="F1F2F5"/>
          </a:solidFill>
          <a:ln w="15875">
            <a:solidFill>
              <a:srgbClr val="C2C8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82880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om-rdmmesh-source: cron раз/час забирает CodeSet → создаёт Table  rdmmesh.&lt;domain&gt;.&lt;codeset&gt;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 flipH="1" flipV="1">
            <a:off x="8503920" y="2194560"/>
            <a:ext cx="457200" cy="548640"/>
          </a:xfrm>
          <a:prstGeom prst="line">
            <a:avLst/>
          </a:prstGeom>
          <a:noFill/>
          <a:ln w="19050">
            <a:solidFill>
              <a:srgbClr val="5A6478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 flipH="1">
            <a:off x="3246120" y="2194560"/>
            <a:ext cx="411480" cy="548640"/>
          </a:xfrm>
          <a:prstGeom prst="line">
            <a:avLst/>
          </a:prstGeom>
          <a:noFill/>
          <a:ln w="19050">
            <a:solidFill>
              <a:srgbClr val="5A6478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3383280" y="4160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A6A6"/>
                </a:solidFill>
              </a:rPr>
              <a:t>Поток OM → RDM   (push, Event Subscription webhook)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0" y="4480560"/>
            <a:ext cx="4846320" cy="914400"/>
          </a:xfrm>
          <a:prstGeom prst="roundRect">
            <a:avLst>
              <a:gd name="adj" fmla="val 6000"/>
            </a:avLst>
          </a:prstGeom>
          <a:solidFill>
            <a:srgbClr val="E6F6F6"/>
          </a:solidFill>
          <a:ln w="15875">
            <a:solidFill>
              <a:srgbClr val="0C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448056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/ table events → UPSERT catalog.domain · rdm_asset_ownership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 · идемпотентность по source_event_id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 flipH="1">
            <a:off x="8503920" y="3474720"/>
            <a:ext cx="457200" cy="1463040"/>
          </a:xfrm>
          <a:prstGeom prst="line">
            <a:avLst/>
          </a:prstGeom>
          <a:noFill/>
          <a:ln w="25400">
            <a:solidFill>
              <a:srgbClr val="0CA6A6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 flipH="1" flipV="1">
            <a:off x="3246120" y="3474720"/>
            <a:ext cx="411480" cy="1463040"/>
          </a:xfrm>
          <a:prstGeom prst="line">
            <a:avLst/>
          </a:prstGeom>
          <a:noFill/>
          <a:ln w="25400">
            <a:solidFill>
              <a:srgbClr val="0CA6A6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502920" y="5532120"/>
            <a:ext cx="111556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1" marL="457200" indent="-2286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4E"/>
                </a:solidFill>
              </a:rPr>
              <a:t>OM — единственный источник истины по доменам и ownership. RDM ничего не пушит активно.</a:t>
            </a:r>
            <a:endParaRPr lang="en-US" sz="1150" dirty="0"/>
          </a:p>
          <a:p>
            <a:pPr lvl="1" marL="457200" indent="-2286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4E"/>
                </a:solidFill>
              </a:rPr>
              <a:t>Bootstrap-период покрыт provisional owner (creator) — publish не блокируется на задержке ingestion.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A6A6"/>
                </a:solidFill>
              </a:rPr>
              <a:t>РЕГУЛЯТОРНОЕ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E"/>
                </a:solidFill>
              </a:rPr>
              <a:t>Bitemporal — воспроизводимость для регулятора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155680" cy="0"/>
          </a:xfrm>
          <a:prstGeom prst="line">
            <a:avLst/>
          </a:prstGeom>
          <a:noFill/>
          <a:ln w="9525">
            <a:solidFill>
              <a:srgbClr val="C2C8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4937760"/>
            <a:ext cx="9601200" cy="0"/>
          </a:xfrm>
          <a:prstGeom prst="line">
            <a:avLst/>
          </a:prstGeom>
          <a:noFill/>
          <a:ln w="19050">
            <a:solidFill>
              <a:srgbClr val="1B2A4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280160" y="5120640"/>
            <a:ext cx="0" cy="-3291840"/>
          </a:xfrm>
          <a:prstGeom prst="line">
            <a:avLst/>
          </a:prstGeom>
          <a:noFill/>
          <a:ln w="19050">
            <a:solidFill>
              <a:srgbClr val="1B2A4E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7863840" y="5029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E"/>
                </a:solidFill>
              </a:rPr>
              <a:t>Effective time (бизнес-время) 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9202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E"/>
                </a:solidFill>
              </a:rPr>
              <a:t>System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2A4E"/>
                </a:solidFill>
              </a:rPr>
              <a:t>time ↑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11680" y="3566160"/>
            <a:ext cx="2743200" cy="1005840"/>
          </a:xfrm>
          <a:prstGeom prst="roundRect">
            <a:avLst>
              <a:gd name="adj" fmla="val 5455"/>
            </a:avLst>
          </a:prstGeom>
          <a:solidFill>
            <a:srgbClr val="EEF2FB"/>
          </a:solidFill>
          <a:ln w="15875">
            <a:solidFill>
              <a:srgbClr val="3B5B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356616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Снимок №1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знали 14.03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20640" y="2286000"/>
            <a:ext cx="2743200" cy="1005840"/>
          </a:xfrm>
          <a:prstGeom prst="roundRect">
            <a:avLst>
              <a:gd name="adj" fmla="val 5455"/>
            </a:avLst>
          </a:prstGeom>
          <a:solidFill>
            <a:srgbClr val="E6F6F6"/>
          </a:solidFill>
          <a:ln w="15875">
            <a:solidFill>
              <a:srgbClr val="0CA6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22860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Снимок №2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уточнили 20.03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138160" y="1554480"/>
            <a:ext cx="3566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B2A4E"/>
                </a:solidFill>
              </a:rPr>
              <a:t>Два запроса к одному справочнику:
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B2A4E"/>
                </a:solidFill>
              </a:rPr>
              <a:t>«Какой справочник SICR действовал на 31.12.2025?»
</a:t>
            </a:r>
            <a:pPr indent="0" marL="0">
              <a:lnSpc>
                <a:spcPts val="1800"/>
              </a:lnSpc>
              <a:buNone/>
            </a:pPr>
            <a:r>
              <a:rPr lang="en-US" sz="1100" i="1" dirty="0">
                <a:solidFill>
                  <a:srgbClr val="5A6478"/>
                </a:solidFill>
              </a:rPr>
              <a:t>    effective_at=2025-12-31, knowledge_at=NOW
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B2A4E"/>
                </a:solidFill>
              </a:rPr>
              <a:t>«Что мы знали об этом 15.01.2026?»
</a:t>
            </a:r>
            <a:pPr indent="0" marL="0">
              <a:lnSpc>
                <a:spcPts val="1800"/>
              </a:lnSpc>
              <a:buNone/>
            </a:pPr>
            <a:r>
              <a:rPr lang="en-US" sz="1100" i="1" dirty="0">
                <a:solidFill>
                  <a:srgbClr val="5A6478"/>
                </a:solidFill>
              </a:rPr>
              <a:t>    effective_at=2025-12-31, knowledge_at=2026-01-15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548640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8"/>
                </a:solidFill>
              </a:rPr>
              <a:t>Регуляторное требование IFRS9: любая старая published-версия полностью восстановима задним числом. Колонки effective_* / system_* — с MVP, даже если UI их пока не показывает.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A6A6"/>
                </a:solidFill>
              </a:rPr>
              <a:t>ПОТОК ДАННЫХ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E"/>
                </a:solidFill>
              </a:rPr>
              <a:t>Сквозной сценарий: Risk-steward меняет PD-матрицу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155680" cy="0"/>
          </a:xfrm>
          <a:prstGeom prst="line">
            <a:avLst/>
          </a:prstGeom>
          <a:noFill/>
          <a:ln w="9525">
            <a:solidFill>
              <a:srgbClr val="C2C8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1732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1F2F5"/>
          </a:solidFill>
          <a:ln w="15875">
            <a:solidFill>
              <a:srgbClr val="C2C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Author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31720" y="141732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1F2F5"/>
          </a:solidFill>
          <a:ln w="15875">
            <a:solidFill>
              <a:srgbClr val="C2C8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31720" y="14173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60520" y="141732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1F2F5"/>
          </a:solidFill>
          <a:ln w="15875">
            <a:solidFill>
              <a:srgbClr val="C2C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60520" y="14173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89320" y="141732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1F2F5"/>
          </a:solidFill>
          <a:ln w="15875">
            <a:solidFill>
              <a:srgbClr val="C2C8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14173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818120" y="141732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1F2F5"/>
          </a:solidFill>
          <a:ln w="15875">
            <a:solidFill>
              <a:srgbClr val="C2C8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18120" y="14173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646920" y="141732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1F2F5"/>
          </a:solidFill>
          <a:ln w="15875">
            <a:solidFill>
              <a:srgbClr val="C2C8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46920" y="14173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 ingestion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2194560"/>
            <a:ext cx="310896" cy="310896"/>
          </a:xfrm>
          <a:prstGeom prst="ellipse">
            <a:avLst/>
          </a:prstGeom>
          <a:solidFill>
            <a:srgbClr val="0CA6A6"/>
          </a:solidFill>
          <a:ln w="12700">
            <a:solidFill>
              <a:srgbClr val="0CA6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1945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217627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E"/>
                </a:solidFill>
              </a:rPr>
              <a:t>Author создаёт draft v3.2.0 и правит ячейки матрицы в grid-редакторе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2743200"/>
            <a:ext cx="310896" cy="310896"/>
          </a:xfrm>
          <a:prstGeom prst="ellipse">
            <a:avLst/>
          </a:prstGeom>
          <a:solidFill>
            <a:srgbClr val="0CA6A6"/>
          </a:solidFill>
          <a:ln w="12700">
            <a:solidFill>
              <a:srgbClr val="0CA6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743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272491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E"/>
                </a:solidFill>
              </a:rPr>
              <a:t>authoring валидирует attributes по CodeSetSchema, пишет в schema authoring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291840"/>
            <a:ext cx="310896" cy="310896"/>
          </a:xfrm>
          <a:prstGeom prst="ellipse">
            <a:avLst/>
          </a:prstGeom>
          <a:solidFill>
            <a:srgbClr val="0CA6A6"/>
          </a:solidFill>
          <a:ln w="12700">
            <a:solidFill>
              <a:srgbClr val="0CA6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2918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0120" y="327355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E"/>
                </a:solidFill>
              </a:rPr>
              <a:t>submit → IN_REVIEW (адресно конкретному steward, E17). Audit-запись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3840480"/>
            <a:ext cx="310896" cy="310896"/>
          </a:xfrm>
          <a:prstGeom prst="ellipse">
            <a:avLst/>
          </a:prstGeom>
          <a:solidFill>
            <a:srgbClr val="0CA6A6"/>
          </a:solidFill>
          <a:ln w="12700">
            <a:solidFill>
              <a:srgbClr val="0CA6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8404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60120" y="382219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E"/>
                </a:solidFill>
              </a:rPr>
              <a:t>Steward approve → STEWARD_APPROVED;  Owner approve → OWNER_APPROVED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4389120"/>
            <a:ext cx="310896" cy="310896"/>
          </a:xfrm>
          <a:prstGeom prst="ellipse">
            <a:avLst/>
          </a:prstGeom>
          <a:solidFill>
            <a:srgbClr val="0CA6A6"/>
          </a:solidFill>
          <a:ln w="12700">
            <a:solidFill>
              <a:srgbClr val="0CA6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3891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60120" y="437083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E"/>
                </a:solidFill>
              </a:rPr>
              <a:t>publishing: snapshot + content_hash + HMAC-подпись → событие publish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4937760"/>
            <a:ext cx="310896" cy="310896"/>
          </a:xfrm>
          <a:prstGeom prst="ellipse">
            <a:avLst/>
          </a:prstGeom>
          <a:solidFill>
            <a:srgbClr val="0CA6A6"/>
          </a:solidFill>
          <a:ln w="12700">
            <a:solidFill>
              <a:srgbClr val="0CA6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9377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60120" y="491947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E"/>
                </a:solidFill>
              </a:rPr>
              <a:t>OutboundPort шлёт webhook в Risk-engine (retry/backoff). Audit-запись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5486400"/>
            <a:ext cx="310896" cy="310896"/>
          </a:xfrm>
          <a:prstGeom prst="ellipse">
            <a:avLst/>
          </a:prstGeom>
          <a:solidFill>
            <a:srgbClr val="0CA6A6"/>
          </a:solidFill>
          <a:ln w="12700">
            <a:solidFill>
              <a:srgbClr val="0CA6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54864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60120" y="546811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E"/>
                </a:solidFill>
              </a:rPr>
              <a:t>Следующий ingestion-цикл (час) — OM обновляет Table метаданными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02920" y="61722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8"/>
                </a:solidFill>
              </a:rPr>
              <a:t>Каждый переход проходит через WorkflowPort и порождает запись в append-only audit. Подпись проверяема через GET /versions/{id}/verify.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A6A6"/>
                </a:solidFill>
              </a:rPr>
              <a:t>РЕАЛИЗАЦИЯ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E"/>
                </a:solidFill>
              </a:rPr>
              <a:t>Технологический стек — Lean MVP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155680" cy="0"/>
          </a:xfrm>
          <a:prstGeom prst="line">
            <a:avLst/>
          </a:prstGeom>
          <a:noFill/>
          <a:ln w="9525">
            <a:solidFill>
              <a:srgbClr val="C2C8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6304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1B2A4E"/>
          </a:solidFill>
          <a:ln w="15875">
            <a:solidFill>
              <a:srgbClr val="1B2A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63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Слой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31720" y="1463040"/>
            <a:ext cx="5029200" cy="457200"/>
          </a:xfrm>
          <a:prstGeom prst="roundRect">
            <a:avLst>
              <a:gd name="adj" fmla="val 12000"/>
            </a:avLst>
          </a:prstGeom>
          <a:solidFill>
            <a:srgbClr val="1B2A4E"/>
          </a:solidFill>
          <a:ln w="15875">
            <a:solidFill>
              <a:srgbClr val="1B2A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31720" y="1463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60920" y="1463040"/>
            <a:ext cx="4297680" cy="457200"/>
          </a:xfrm>
          <a:prstGeom prst="roundRect">
            <a:avLst>
              <a:gd name="adj" fmla="val 12000"/>
            </a:avLst>
          </a:prstGeom>
          <a:solidFill>
            <a:srgbClr val="1B2A4E"/>
          </a:solidFill>
          <a:ln w="15875">
            <a:solidFill>
              <a:srgbClr val="1B2A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60920" y="14630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Обоснование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1920240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C2C8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92024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331720" y="1920240"/>
            <a:ext cx="50292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C2C8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31720" y="1920240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· Dropwizard 4 · JDBI3 · Flyway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60920" y="1920240"/>
            <a:ext cx="4297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C2C8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60920" y="1920240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у OpenMetadata — переиспользуем паттерны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2487168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F1F2F5"/>
          </a:solidFill>
          <a:ln w="9525">
            <a:solidFill>
              <a:srgbClr val="C2C8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487168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данных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331720" y="2487168"/>
            <a:ext cx="5029200" cy="566928"/>
          </a:xfrm>
          <a:prstGeom prst="roundRect">
            <a:avLst>
              <a:gd name="adj" fmla="val 9677"/>
            </a:avLst>
          </a:prstGeom>
          <a:solidFill>
            <a:srgbClr val="F1F2F5"/>
          </a:solidFill>
          <a:ln w="9525">
            <a:solidFill>
              <a:srgbClr val="C2C8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31720" y="2487168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(JSONB, FTS ru+en, pg_trgm)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360920" y="2487168"/>
            <a:ext cx="4297680" cy="566928"/>
          </a:xfrm>
          <a:prstGeom prst="roundRect">
            <a:avLst>
              <a:gd name="adj" fmla="val 9677"/>
            </a:avLst>
          </a:prstGeom>
          <a:solidFill>
            <a:srgbClr val="F1F2F5"/>
          </a:solidFill>
          <a:ln w="9525">
            <a:solidFill>
              <a:srgbClr val="C2C8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60920" y="2487168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OM-совместимо; ES не нужен на этих объёмах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3054096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C2C8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054096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331720" y="3054096"/>
            <a:ext cx="50292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C2C8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31720" y="3054096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 state machine за WorkflowPort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360920" y="3054096"/>
            <a:ext cx="4297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C2C8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60920" y="3054096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Flowable избыточен для одного шаблона 4-eyes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2920" y="3621024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F1F2F5"/>
          </a:solidFill>
          <a:ln w="9525">
            <a:solidFill>
              <a:srgbClr val="C2C8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621024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331720" y="3621024"/>
            <a:ext cx="5029200" cy="566928"/>
          </a:xfrm>
          <a:prstGeom prst="roundRect">
            <a:avLst>
              <a:gd name="adj" fmla="val 9677"/>
            </a:avLst>
          </a:prstGeom>
          <a:solidFill>
            <a:srgbClr val="F1F2F5"/>
          </a:solidFill>
          <a:ln w="9525">
            <a:solidFill>
              <a:srgbClr val="C2C8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31720" y="3621024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(broker к AD) · OIDC + PKCE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360920" y="3621024"/>
            <a:ext cx="4297680" cy="566928"/>
          </a:xfrm>
          <a:prstGeom prst="roundRect">
            <a:avLst>
              <a:gd name="adj" fmla="val 9677"/>
            </a:avLst>
          </a:prstGeom>
          <a:solidFill>
            <a:srgbClr val="F1F2F5"/>
          </a:solidFill>
          <a:ln w="9525">
            <a:solidFill>
              <a:srgbClr val="C2C8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60920" y="3621024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общий realm с OpenMetadata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02920" y="4187952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C2C8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4187952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331720" y="4187952"/>
            <a:ext cx="50292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C2C8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31720" y="4187952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 (HMAC, идемпотентные, retry)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360920" y="4187952"/>
            <a:ext cx="4297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C2C8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60920" y="4187952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— V2 за тем же OutboundPort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02920" y="4754880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F1F2F5"/>
          </a:solidFill>
          <a:ln w="9525">
            <a:solidFill>
              <a:srgbClr val="C2C8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475488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331720" y="4754880"/>
            <a:ext cx="5029200" cy="566928"/>
          </a:xfrm>
          <a:prstGeom prst="roundRect">
            <a:avLst>
              <a:gd name="adj" fmla="val 9677"/>
            </a:avLst>
          </a:prstGeom>
          <a:solidFill>
            <a:srgbClr val="F1F2F5"/>
          </a:solidFill>
          <a:ln w="9525">
            <a:solidFill>
              <a:srgbClr val="C2C8D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331720" y="4754880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→ codegen Java/TS/Python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360920" y="4754880"/>
            <a:ext cx="4297680" cy="566928"/>
          </a:xfrm>
          <a:prstGeom prst="roundRect">
            <a:avLst>
              <a:gd name="adj" fmla="val 9677"/>
            </a:avLst>
          </a:prstGeom>
          <a:solidFill>
            <a:srgbClr val="F1F2F5"/>
          </a:solidFill>
          <a:ln w="9525">
            <a:solidFill>
              <a:srgbClr val="C2C8D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60920" y="4754880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schema-first, единый источник контрактов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02920" y="5321808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C2C8D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5321808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331720" y="5321808"/>
            <a:ext cx="50292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C2C8D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331720" y="5321808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TS · AntD · TanStack Table · Vite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7360920" y="5321808"/>
            <a:ext cx="4297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C2C8D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60920" y="5321808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визуально согласован с OpenMetadata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502920" y="60350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CA6A6"/>
                </a:solidFill>
              </a:rPr>
              <a:t>Production: 3 внешних компонента — PostgreSQL · Keycloak · JVM-сервис.  Dev — Docker Compose.  Prod — Helm chart.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A6A6"/>
                </a:solidFill>
              </a:rPr>
              <a:t>ПЛАН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E"/>
                </a:solidFill>
              </a:rPr>
              <a:t>Дорожная карта и статус по факту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155680" cy="0"/>
          </a:xfrm>
          <a:prstGeom prst="line">
            <a:avLst/>
          </a:prstGeom>
          <a:noFill/>
          <a:ln w="9525">
            <a:solidFill>
              <a:srgbClr val="C2C8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63040"/>
            <a:ext cx="3657600" cy="4206240"/>
          </a:xfrm>
          <a:prstGeom prst="roundRect">
            <a:avLst>
              <a:gd name="adj" fmla="val 1000"/>
            </a:avLst>
          </a:prstGeom>
          <a:solidFill>
            <a:srgbClr val="E6F6F6"/>
          </a:solidFill>
          <a:ln w="12700">
            <a:solidFill>
              <a:srgbClr val="C2C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E"/>
                </a:solidFill>
              </a:rPr>
              <a:t>MVP  ·  пилот Risk/IFRS9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1463040"/>
            <a:ext cx="3657600" cy="4206240"/>
          </a:xfrm>
          <a:prstGeom prst="roundRect">
            <a:avLst>
              <a:gd name="adj" fmla="val 1000"/>
            </a:avLst>
          </a:prstGeom>
          <a:solidFill>
            <a:srgbClr val="EEF2FB"/>
          </a:solidFill>
          <a:ln w="12700">
            <a:solidFill>
              <a:srgbClr val="C2C8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E"/>
                </a:solidFill>
              </a:rPr>
              <a:t>V1  ·  Security + enterprise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92440" y="1463040"/>
            <a:ext cx="3611880" cy="4206240"/>
          </a:xfrm>
          <a:prstGeom prst="roundRect">
            <a:avLst>
              <a:gd name="adj" fmla="val 1013"/>
            </a:avLst>
          </a:prstGeom>
          <a:solidFill>
            <a:srgbClr val="F1F2F5"/>
          </a:solidFill>
          <a:ln w="12700">
            <a:solidFill>
              <a:srgbClr val="C2C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2440" y="155448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E"/>
                </a:solidFill>
              </a:rPr>
              <a:t>V2  ·  зрелость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2011680"/>
            <a:ext cx="33832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8E5A"/>
                </a:solidFill>
              </a:rPr>
              <a:t>E1 Foundation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8E5A"/>
                </a:solidFill>
              </a:rPr>
              <a:t>E2 Identity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8E5A"/>
                </a:solidFill>
              </a:rPr>
              <a:t>E3 Catalog · E4 Authoring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8E5A"/>
                </a:solidFill>
              </a:rPr>
              <a:t>E5 Workflow · E6 Publishing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8E5A"/>
                </a:solidFill>
              </a:rPr>
              <a:t>E7 Ownership · E10 Audit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8E5A"/>
                </a:solidFill>
              </a:rPr>
              <a:t>E11 UI · E13 Bitemporal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8E5A"/>
                </a:solidFill>
              </a:rPr>
              <a:t>E14 Compliance hardening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80560" y="2011680"/>
            <a:ext cx="33832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77700"/>
                </a:solidFill>
              </a:rPr>
              <a:t>E8 Distribution (as_of)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77700"/>
                </a:solidFill>
              </a:rPr>
              <a:t>E9 Outbound webhooks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77700"/>
                </a:solidFill>
              </a:rPr>
              <a:t>E12 Ingestion-коннектор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8E5A"/>
                </a:solidFill>
              </a:rPr>
              <a:t>E17 Адресн. согласование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8E5A"/>
                </a:solidFill>
              </a:rPr>
              <a:t>E15 Excel I/O · E16 Flowable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77700"/>
                </a:solidFill>
              </a:rPr>
              <a:t>Bulk-операции (BR-16)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77700"/>
                </a:solidFill>
              </a:rPr>
              <a:t>Домен Security/Access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75320" y="2011680"/>
            <a:ext cx="32461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A6478"/>
                </a:solidFill>
              </a:rPr>
              <a:t>Emergency hotfix (BR-17)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A6478"/>
                </a:solidFill>
              </a:rPr>
              <a:t>Custom BPMN per domain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A6478"/>
                </a:solidFill>
              </a:rPr>
              <a:t>Kafka outbound (BR-19)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A6478"/>
                </a:solidFill>
              </a:rPr>
              <a:t>Elasticsearch за SearchPort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A6478"/>
                </a:solidFill>
              </a:rPr>
              <a:t>dbt source · Trino FDW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A6478"/>
                </a:solidFill>
              </a:rPr>
              <a:t>Audit-export в S3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58521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E5A"/>
                </a:solidFill>
              </a:rPr>
              <a:t>● реализовано (есть handoff)   </a:t>
            </a:r>
            <a:pPr algn="ctr" indent="0" marL="0">
              <a:buNone/>
            </a:pPr>
            <a:r>
              <a:rPr lang="en-US" sz="1100" b="1" dirty="0">
                <a:solidFill>
                  <a:srgbClr val="C77700"/>
                </a:solidFill>
              </a:rPr>
              <a:t>● в работе / запланировано   </a:t>
            </a:r>
            <a:pPr algn="ctr" indent="0" marL="0">
              <a:buNone/>
            </a:pPr>
            <a:r>
              <a:rPr lang="en-US" sz="1100" b="1" dirty="0">
                <a:solidFill>
                  <a:srgbClr val="5A6478"/>
                </a:solidFill>
              </a:rPr>
              <a:t>● V2, не начато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A6A6"/>
                </a:solidFill>
              </a:rPr>
              <a:t>ИТОГ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E"/>
                </a:solidFill>
              </a:rPr>
              <a:t>Ключевые решения и риски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155680" cy="0"/>
          </a:xfrm>
          <a:prstGeom prst="line">
            <a:avLst/>
          </a:prstGeom>
          <a:noFill/>
          <a:ln w="9525">
            <a:solidFill>
              <a:srgbClr val="C2C8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E"/>
                </a:solidFill>
              </a:rPr>
              <a:t>Архитектурные решения (ADR)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1" marL="457200" indent="-2286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A4E"/>
                </a:solidFill>
              </a:rPr>
              <a:t>Modular monolith, не микросервисы — изоляция ArchUnit</a:t>
            </a:r>
            <a:endParaRPr lang="en-US" sz="1150" dirty="0"/>
          </a:p>
          <a:p>
            <a:pPr lvl="1" marL="457200" indent="-2286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A4E"/>
                </a:solidFill>
              </a:rPr>
              <a:t>Schema-first (JSON Schema) — один источник контрактов</a:t>
            </a:r>
            <a:endParaRPr lang="en-US" sz="1150" dirty="0"/>
          </a:p>
          <a:p>
            <a:pPr lvl="1" marL="457200" indent="-2286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A4E"/>
                </a:solidFill>
              </a:rPr>
              <a:t>Postgres FTS вместо ES (за SearchPort)</a:t>
            </a:r>
            <a:endParaRPr lang="en-US" sz="1150" dirty="0"/>
          </a:p>
          <a:p>
            <a:pPr lvl="1" marL="457200" indent="-2286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A4E"/>
                </a:solidFill>
              </a:rPr>
              <a:t>Enum state machine вместо Flowable (за WorkflowPort)</a:t>
            </a:r>
            <a:endParaRPr lang="en-US" sz="1150" dirty="0"/>
          </a:p>
          <a:p>
            <a:pPr lvl="1" marL="457200" indent="-2286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A4E"/>
                </a:solidFill>
              </a:rPr>
              <a:t>Слабая связанность с OM (pull + async webhook)</a:t>
            </a:r>
            <a:endParaRPr lang="en-US" sz="1150" dirty="0"/>
          </a:p>
          <a:p>
            <a:pPr lvl="1" marL="457200" indent="-2286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A4E"/>
                </a:solidFill>
              </a:rPr>
              <a:t>Bitemporal и composite keys — с первого дня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30936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Риски и митигация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1" marL="457200" indent="-2286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E"/>
                </a:solidFill>
              </a:rPr>
              <a:t>Задержка ingestion → provisional owner + баннер + алерт 24ч</a:t>
            </a:r>
            <a:endParaRPr lang="en-US" sz="1150" dirty="0"/>
          </a:p>
          <a:p>
            <a:pPr lvl="1" marL="457200" indent="-2286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E"/>
                </a:solidFill>
              </a:rPr>
              <a:t>Self-approval → жёсткая проверка в state machine + тесты</a:t>
            </a:r>
            <a:endParaRPr lang="en-US" sz="1150" dirty="0"/>
          </a:p>
          <a:p>
            <a:pPr lvl="1" marL="457200" indent="-2286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E"/>
                </a:solidFill>
              </a:rPr>
              <a:t>Потеря OM-webhook → RETRY + nightly reconciliation</a:t>
            </a:r>
            <a:endParaRPr lang="en-US" sz="1150" dirty="0"/>
          </a:p>
          <a:p>
            <a:pPr lvl="1" marL="457200" indent="-2286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E"/>
                </a:solidFill>
              </a:rPr>
              <a:t>Большой draft (OOM) → streaming parse, постранично</a:t>
            </a:r>
            <a:endParaRPr lang="en-US" sz="1150" dirty="0"/>
          </a:p>
          <a:p>
            <a:pPr lvl="1" marL="457200" indent="-2286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E"/>
                </a:solidFill>
              </a:rPr>
              <a:t>Keycloak SPOF → HA (2+ ноды), кэш JWKS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5212080"/>
            <a:ext cx="11201400" cy="1051560"/>
          </a:xfrm>
          <a:prstGeom prst="roundRect">
            <a:avLst>
              <a:gd name="adj" fmla="val 4348"/>
            </a:avLst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30352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Каждое инфраструктурное «нет» спрятано за портом → обратимо без рефакторинга бизнес-логики.</a:t>
            </a:r>
            <a:endParaRPr lang="en-US" sz="13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Регуляторный фундамент (bitemporal · 4-eyes · подпись · append-only audit) заложен с MVP.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2026-05-19T15:48:48Z</dcterms:created>
  <dcterms:modified xsi:type="dcterms:W3CDTF">2026-05-19T15:48:48Z</dcterms:modified>
</cp:coreProperties>
</file>